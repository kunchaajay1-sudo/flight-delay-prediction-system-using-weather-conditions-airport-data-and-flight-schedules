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Medium"/>
      <p:regular r:id="rId201317"/>
    </p:embeddedFont>
    <p:embeddedFont>
      <p:font typeface="Nobil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Flight Delay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Weather Conditions, Airport Data, and Flight Schedules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06502"/>
            <a:ext cx="2157933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248992"/>
            <a:ext cx="244502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 YEAR ENGINEERING PROJECT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7963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Cost of Flight Delays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435224"/>
            <a:ext cx="2290465" cy="1733624"/>
          </a:xfrm>
          <a:prstGeom prst="roundRect">
            <a:avLst>
              <a:gd name="adj" fmla="val 343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581745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Financial Loss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1888257"/>
            <a:ext cx="19974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Airlines lose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$28B annually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globally due to delays — including fuel waste, crew overtime, and compensation payouts.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435224"/>
            <a:ext cx="2290539" cy="1733624"/>
          </a:xfrm>
          <a:prstGeom prst="roundRect">
            <a:avLst>
              <a:gd name="adj" fmla="val 343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581745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Operational Chaos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1888257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Cascading disruptions ripple through schedules, gate assignments, and ground operations, straining airport resources.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310607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45712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Passenger Impact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763640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20% of commercial flights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experience delays, causing missed connections, lost productivity, and diminished trust.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85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Existing System Limitations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9584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How It Works Today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59062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analysis of historical flight records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Static rule-based thresholds for delay classification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Siloed data across airlines, airports, and weather services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Reactive decision-making after disruptions occur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89584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Critical Gaps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259062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 prediction accuracy — unable to model complex, multi-variable interactions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real-time weather or runway traffic integration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Cannot estimate delay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duration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only binary delayed/on-time status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of actionable, role-specific insights for stakeholders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58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Objectives &amp; Scope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57089"/>
            <a:ext cx="4004965" cy="1507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45345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943174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 Delay Likelihood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9686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 models classify flights as on-time or delayed with high confidence using multi-source data.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357089"/>
            <a:ext cx="4005039" cy="15070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45345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1943174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Estimate Delay Duration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9686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Regression models forecast expected delay minutes, enabling proactive resource planning.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507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10224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591967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Centralized Data Platform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898478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Secure, scalable ingestion of weather, airport operations, schedules, and historical records.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5070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10224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Actionable Dashboards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98478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Role-based visualizations for airlines, airports, agencies, and passengers.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473077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follows a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three-tier architecture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data ingestion, ML processing, and presentation — enabling real-time predictions at scale.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2684041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APIs, databases, and streaming pipelines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Processing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Feature engineering, model training, and inference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Presentation Layer: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Dashboards, reports, and alert APIs</a:t>
            </a:r>
            <a:endParaRPr lang="en-US" sz="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Overall System Workflow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Dashboard &amp; Alerts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275491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 Prediction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pipeline processes data in near real-time, generating updated predictions as new weather and operational data becomes available — enabling proactive rather than reactive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4052"/>
            <a:ext cx="4722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Modules &amp; Data Integration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01985"/>
            <a:ext cx="225921" cy="2259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340421"/>
            <a:ext cx="4722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Weather Data Integration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96119" y="1570881"/>
            <a:ext cx="4722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feeds from NOAA and METAR APIs — wind, visibility, precipitation, and temperature.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075631"/>
            <a:ext cx="225921" cy="2259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19" y="2414067"/>
            <a:ext cx="4722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Airport Operations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96119" y="2644527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Runway availability, ground traffic, gate occupancy, and historical throughput metrics.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86906"/>
            <a:ext cx="225921" cy="2259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3325341"/>
            <a:ext cx="4722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Flight Data Management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6119" y="3555802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Airline schedules, aircraft type, route history, and carrier performance data.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898181"/>
            <a:ext cx="225921" cy="22592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6119" y="4236616"/>
            <a:ext cx="472276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 Prediction Engine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96119" y="4467076"/>
            <a:ext cx="47227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Random Forest, XGBoost, and LSTM models for classification and duration regression.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 Pipeline &amp; Prediction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8382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Prediction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261542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119" y="1439168"/>
            <a:ext cx="3938067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52422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Raw Data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1790700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Weather, schedules, airport ops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212772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305348"/>
            <a:ext cx="3938067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39040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2656880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Encoding, scaling, temporal features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6119" y="299390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6119" y="3171527"/>
            <a:ext cx="3938067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256583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Inference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523059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Delay probability + duration output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6119" y="386008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6119" y="4037707"/>
            <a:ext cx="3938067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4122762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Insight Delivery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4389239"/>
            <a:ext cx="393806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Dashboard, alerts, reports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14577" y="983828"/>
            <a:ext cx="39380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Dashboard Capabilities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4577" y="1250305"/>
            <a:ext cx="3938067" cy="937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delay probability scores per flight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Estimated delay duration with confidence intervals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Weather impact heatmaps and trend charts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Role-based views: airline ops, airport managers, passengers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PDF and CSV report generation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870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Technology Stack &amp; Security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605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786979"/>
            <a:ext cx="1880592" cy="1336700"/>
          </a:xfrm>
          <a:prstGeom prst="roundRect">
            <a:avLst>
              <a:gd name="adj" fmla="val 44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640" y="1933501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296716"/>
            <a:ext cx="158755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Python, Flask/FastAPI, Scikit-learn, XGBoost, TensorFlow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1786979"/>
            <a:ext cx="1880592" cy="1336700"/>
          </a:xfrm>
          <a:prstGeom prst="roundRect">
            <a:avLst>
              <a:gd name="adj" fmla="val 4454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64991" y="1933501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Frontend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4991" y="2296716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React.js, D3.js, Plotly, Chart.js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265438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411959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775174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PostgreSQL, Redis, Apache Kafka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8470" y="3265438"/>
            <a:ext cx="1880592" cy="1109886"/>
          </a:xfrm>
          <a:prstGeom prst="roundRect">
            <a:avLst>
              <a:gd name="adj" fmla="val 5365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64991" y="3411959"/>
            <a:ext cx="1587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Cloud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64991" y="3775174"/>
            <a:ext cx="15875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AWS/GCP, Docker, Kubernetes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49701" y="140605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 &amp; Privacy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49701" y="1769269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RBAC: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Role-based access control for all user types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Encryption: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TLS in transit, AES-256 at rest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Compliance: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GDPR and aviation data regulations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Audit Logs: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Full traceability of data access and predictions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49701" y="3211488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D2D9F9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417019"/>
            <a:ext cx="177180" cy="14175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10398" y="3374454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Agile methodology with CI/CD pipelines ensures iterative delivery and rapid model retraining.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882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Outcomes, Benefits &amp; Future Vision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409328"/>
            <a:ext cx="4722763" cy="2290018"/>
          </a:xfrm>
          <a:prstGeom prst="roundRect">
            <a:avLst>
              <a:gd name="adj" fmla="val 2397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414090"/>
            <a:ext cx="2356619" cy="1341090"/>
          </a:xfrm>
          <a:custGeom>
            <a:avLst/>
            <a:gdLst/>
            <a:ahLst/>
            <a:cxnLst/>
            <a:rect l="l" t="t" r="r" b="b"/>
            <a:pathLst>
              <a:path w="2356619" h="1341090">
                <a:moveTo>
                  <a:pt x="45742" y="0"/>
                </a:moveTo>
                <a:lnTo>
                  <a:pt x="2356619" y="0"/>
                </a:lnTo>
                <a:lnTo>
                  <a:pt x="2356619" y="1341090"/>
                </a:lnTo>
                <a:lnTo>
                  <a:pt x="0" y="1341090"/>
                </a:lnTo>
                <a:lnTo>
                  <a:pt x="0" y="45742"/>
                </a:lnTo>
                <a:arcTo hR="45742" wR="45742" stAng="10800000" swAng="5400000"/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6" name="Text 3"/>
          <p:cNvSpPr/>
          <p:nvPr/>
        </p:nvSpPr>
        <p:spPr>
          <a:xfrm>
            <a:off x="631552" y="1544762"/>
            <a:ext cx="2095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Expected Outcomes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1552" y="1821135"/>
            <a:ext cx="209527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Higher prediction accuracy, reduced operational costs, and improved on-time performance for airlines and airports.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857500" y="1414090"/>
            <a:ext cx="2356619" cy="1341090"/>
          </a:xfrm>
          <a:custGeom>
            <a:avLst/>
            <a:gdLst/>
            <a:ahLst/>
            <a:cxnLst/>
            <a:rect l="l" t="t" r="r" b="b"/>
            <a:pathLst>
              <a:path w="2356619" h="1341090">
                <a:moveTo>
                  <a:pt x="0" y="0"/>
                </a:moveTo>
                <a:lnTo>
                  <a:pt x="2310877" y="0"/>
                </a:lnTo>
                <a:arcTo hR="45742" wR="45742" stAng="16200000" swAng="5400000"/>
                <a:lnTo>
                  <a:pt x="2356619" y="1341090"/>
                </a:lnTo>
                <a:lnTo>
                  <a:pt x="0" y="1341090"/>
                </a:lnTo>
                <a:lnTo>
                  <a:pt x="0" y="0"/>
                </a:lnTo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414090"/>
            <a:ext cx="14288" cy="1341090"/>
          </a:xfrm>
          <a:prstGeom prst="roundRect">
            <a:avLst>
              <a:gd name="adj" fmla="val 49998"/>
            </a:avLst>
          </a:prstGeom>
          <a:solidFill>
            <a:srgbClr val="B8BFDF"/>
          </a:solidFill>
          <a:ln/>
        </p:spPr>
      </p:sp>
      <p:sp>
        <p:nvSpPr>
          <p:cNvPr id="10" name="Text 7"/>
          <p:cNvSpPr/>
          <p:nvPr/>
        </p:nvSpPr>
        <p:spPr>
          <a:xfrm>
            <a:off x="2988171" y="1544762"/>
            <a:ext cx="2095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Real-World Applications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988171" y="1821135"/>
            <a:ext cx="209527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Deployable by airlines, airport authorities, travel agencies, and regulatory bodies for proactive aviation management.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0881" y="2755181"/>
            <a:ext cx="4713238" cy="939403"/>
          </a:xfrm>
          <a:custGeom>
            <a:avLst/>
            <a:gdLst/>
            <a:ahLst/>
            <a:cxnLst/>
            <a:rect l="l" t="t" r="r" b="b"/>
            <a:pathLst>
              <a:path w="4713238" h="939403">
                <a:moveTo>
                  <a:pt x="0" y="0"/>
                </a:moveTo>
                <a:lnTo>
                  <a:pt x="4713238" y="0"/>
                </a:lnTo>
                <a:lnTo>
                  <a:pt x="4713238" y="893661"/>
                </a:lnTo>
                <a:arcTo hR="45742" wR="45742" stAng="0" swAng="5400000"/>
                <a:lnTo>
                  <a:pt x="45742" y="939403"/>
                </a:lnTo>
                <a:arcTo hR="45742" wR="45742" stAng="5400000" swAng="5400000"/>
                <a:lnTo>
                  <a:pt x="0" y="0"/>
                </a:lnTo>
                <a:close/>
              </a:path>
            </a:pathLst>
          </a:custGeom>
          <a:solidFill>
            <a:srgbClr val="D2D9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2755181"/>
            <a:ext cx="4713238" cy="14288"/>
          </a:xfrm>
          <a:prstGeom prst="roundRect">
            <a:avLst>
              <a:gd name="adj" fmla="val 49998"/>
            </a:avLst>
          </a:prstGeom>
          <a:solidFill>
            <a:srgbClr val="B8BFDF"/>
          </a:solidFill>
          <a:ln/>
        </p:spPr>
      </p:sp>
      <p:sp>
        <p:nvSpPr>
          <p:cNvPr id="14" name="Text 11"/>
          <p:cNvSpPr/>
          <p:nvPr/>
        </p:nvSpPr>
        <p:spPr>
          <a:xfrm>
            <a:off x="631552" y="2885852"/>
            <a:ext cx="44518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552" y="3162226"/>
            <a:ext cx="44518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satellite weather integration, deep learning models, and predictive maintenance correlation for next-gen accuracy.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6119" y="3834854"/>
            <a:ext cx="4722763" cy="896764"/>
          </a:xfrm>
          <a:prstGeom prst="roundRect">
            <a:avLst>
              <a:gd name="adj" fmla="val 6121"/>
            </a:avLst>
          </a:prstGeom>
          <a:solidFill>
            <a:srgbClr val="B6FCB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0" y="4021931"/>
            <a:ext cx="163339" cy="13067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0800" y="3987998"/>
            <a:ext cx="4167411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system transforms aviation from reactive to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proactive, data-driven operations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reducing delays, costs, and passenger inconvenience at scale.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2026-07-28T05:18:42Z</dcterms:created>
  <dcterms:modified xsi:type="dcterms:W3CDTF">2026-07-28T05:18:42Z</dcterms:modified>
</cp:coreProperties>
</file>